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74320"/>
            <a:ext cx="274320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301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117"/>
                </a:solidFill>
              </a:rPr>
              <a:t>QUANT-A-THON 2026  |  QT-6.22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GreenRoute V7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2C55E"/>
                </a:solidFill>
              </a:rPr>
              <a:t>Quantum Assisted Vehicle Routing for Green 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5146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</a:rPr>
              <a:t>Harnessing BQPhy Quantum-Inspired Evolutionary Optimization + Google OR-Tools to minimize delivery distance, fuel consumption, and CO₂ emissions — with an automated Decision Engine that crowns the winner.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49039"/>
            <a:ext cx="2743200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749039"/>
            <a:ext cx="27432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8221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HACKATHON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0965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Quant-A-thon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749039"/>
            <a:ext cx="2743200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749039"/>
            <a:ext cx="27432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38221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DURATION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40965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36 Hours  |  July 30–31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49039"/>
            <a:ext cx="2743200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749039"/>
            <a:ext cx="274320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38221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55F7"/>
                </a:solidFill>
              </a:rPr>
              <a:t>TEAM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40965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QT-6.22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3749039"/>
            <a:ext cx="2743200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3749039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382219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40965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· FastAPI · BQPhy ·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983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Member 1   ·   Member 2   ·   Member 3   ·   Member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The Last-Mile Logistics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</a:rPr>
              <a:t>~8%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of global CO₂ from logistics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74320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2743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98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6B6D4"/>
                </a:solidFill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of logistics cost is last-mile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274320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98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855F7"/>
                </a:solidFill>
              </a:rPr>
              <a:t>NP-Hard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CVRP complexity class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188720"/>
            <a:ext cx="274320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18872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2984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</a:rPr>
              <a:t>5%+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savings = tonnes CO₂ avoided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60320"/>
            <a:ext cx="5394960" cy="3474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560320"/>
            <a:ext cx="36576" cy="3474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651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Pain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297180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</a:rPr>
              <a:t>→  Suboptimal routes → excess fuel &amp; cost</a:t>
            </a:r>
          </a:p>
          <a:p>
            <a:r>
              <a:rPr sz="1300" b="0">
                <a:solidFill>
                  <a:srgbClr val="E2E8F0"/>
                </a:solidFill>
              </a:rPr>
              <a:t>→  Capacity violations → failed deliveries</a:t>
            </a:r>
          </a:p>
          <a:p>
            <a:r>
              <a:rPr sz="1300" b="0">
                <a:solidFill>
                  <a:srgbClr val="E2E8F0"/>
                </a:solidFill>
              </a:rPr>
              <a:t>→  Manual planning → human error</a:t>
            </a:r>
          </a:p>
          <a:p>
            <a:r>
              <a:rPr sz="1300" b="0">
                <a:solidFill>
                  <a:srgbClr val="E2E8F0"/>
                </a:solidFill>
              </a:rPr>
              <a:t>→  No solver transparency → black-box</a:t>
            </a:r>
          </a:p>
          <a:p>
            <a:r>
              <a:rPr sz="1300" b="0">
                <a:solidFill>
                  <a:srgbClr val="E2E8F0"/>
                </a:solidFill>
              </a:rPr>
              <a:t>→  No CO₂ accountability → ESG 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560320"/>
            <a:ext cx="5943600" cy="3474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560320"/>
            <a:ext cx="36576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26517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Our Answer: GreenRoute V7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2971800"/>
            <a:ext cx="5760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</a:rPr>
              <a:t>✓  Every customer visited exactly once</a:t>
            </a:r>
          </a:p>
          <a:p>
            <a:r>
              <a:rPr sz="1300" b="0">
                <a:solidFill>
                  <a:srgbClr val="E2E8F0"/>
                </a:solidFill>
              </a:rPr>
              <a:t>✓  No vehicle exceeds its capacity</a:t>
            </a:r>
          </a:p>
          <a:p>
            <a:r>
              <a:rPr sz="1300" b="0">
                <a:solidFill>
                  <a:srgbClr val="E2E8F0"/>
                </a:solidFill>
              </a:rPr>
              <a:t>✓  Every vehicle starts &amp; ends at depot</a:t>
            </a:r>
          </a:p>
          <a:p>
            <a:r>
              <a:rPr sz="1300" b="0">
                <a:solidFill>
                  <a:srgbClr val="E2E8F0"/>
                </a:solidFill>
              </a:rPr>
              <a:t>✓  Total fleet distance minimized</a:t>
            </a:r>
          </a:p>
          <a:p>
            <a:r>
              <a:rPr sz="1300" b="0">
                <a:solidFill>
                  <a:srgbClr val="E2E8F0"/>
                </a:solidFill>
              </a:rPr>
              <a:t>✓  Fuel &amp; CO₂ tracked per route</a:t>
            </a:r>
          </a:p>
          <a:p>
            <a:r>
              <a:rPr sz="1300" b="0">
                <a:solidFill>
                  <a:srgbClr val="E2E8F0"/>
                </a:solidFill>
              </a:rPr>
              <a:t>✓  Classical vs Quantum — best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Why is CVRP Hard?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NP-Hard Combinatorial Explosion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23774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5720" cy="2377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Search Space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Possible assignments:  K^N   (exponential in N)</a:t>
            </a:r>
          </a:p>
          <a:p>
            <a:r>
              <a:rPr sz="1200" b="0">
                <a:solidFill>
                  <a:srgbClr val="E2E8F0"/>
                </a:solidFill>
              </a:rPr>
              <a:t>Possible tours/vehicle: N!   (factorial in N)</a:t>
            </a:r>
          </a:p>
          <a:p>
            <a:r>
              <a:rPr sz="1200" b="0">
                <a:solidFill>
                  <a:srgbClr val="E2E8F0"/>
                </a:solidFill>
              </a:rPr>
              <a:t>Combined: K^N × N!          (super-exponential)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Example  →  8 customers, 3 vehicles:</a:t>
            </a:r>
          </a:p>
          <a:p>
            <a:r>
              <a:rPr sz="1200" b="0">
                <a:solidFill>
                  <a:srgbClr val="E2E8F0"/>
                </a:solidFill>
              </a:rPr>
              <a:t>  3^8 × 8! = 6,561 × 40,320 = 264,539,520</a:t>
            </a:r>
          </a:p>
          <a:p>
            <a:r>
              <a:rPr sz="1200" b="0">
                <a:solidFill>
                  <a:srgbClr val="E2E8F0"/>
                </a:solidFill>
              </a:rPr>
              <a:t>  possible routes to evaluate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88720"/>
            <a:ext cx="58521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Var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554480"/>
            <a:ext cx="5852160" cy="402336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Exact ILP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~15 vars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Optimal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581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Very Slow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975104"/>
            <a:ext cx="5852160" cy="402336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002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Sim. Annealing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002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~24 vars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002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Heuristic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00253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Moderate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395728"/>
            <a:ext cx="5852160" cy="402336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Greedy 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Poor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Fast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816352"/>
            <a:ext cx="5852160" cy="402336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843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OR-Tools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2843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Large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843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Near-Opt.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8437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2E8F0"/>
                </a:solidFill>
              </a:rPr>
              <a:t>Fast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236976"/>
            <a:ext cx="5852160" cy="4023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264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117"/>
                </a:solidFill>
              </a:rPr>
              <a:t>BQPhy QIEO 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3264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117"/>
                </a:solidFill>
              </a:rPr>
              <a:t>128+ vars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3264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117"/>
                </a:solidFill>
              </a:rPr>
              <a:t>Heuristic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2644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D1117"/>
                </a:solidFill>
              </a:rPr>
              <a:t>Moderate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749039"/>
            <a:ext cx="5486400" cy="22860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749039"/>
            <a:ext cx="4572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2219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CVRP Hard Constraints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E2E8F0"/>
                </a:solidFill>
              </a:rPr>
              <a:t>• Every customer must be visited exactly once</a:t>
            </a:r>
          </a:p>
          <a:p>
            <a:r>
              <a:rPr sz="1300" b="0">
                <a:solidFill>
                  <a:srgbClr val="E2E8F0"/>
                </a:solidFill>
              </a:rPr>
              <a:t>• Vehicle capacity cannot be exceeded</a:t>
            </a:r>
          </a:p>
          <a:p>
            <a:r>
              <a:rPr sz="1300" b="0">
                <a:solidFill>
                  <a:srgbClr val="E2E8F0"/>
                </a:solidFill>
              </a:rPr>
              <a:t>• Every vehicle starts AND ends at the depot</a:t>
            </a:r>
          </a:p>
          <a:p>
            <a:r>
              <a:rPr sz="1300" b="0">
                <a:solidFill>
                  <a:srgbClr val="E2E8F0"/>
                </a:solidFill>
              </a:rPr>
              <a:t>• Total distance must be minimized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749039"/>
            <a:ext cx="5852160" cy="22860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749039"/>
            <a:ext cx="45720" cy="228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8221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Why Quantum?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224528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Quantum algorithms explore solution space via superposition and tunneling — escaping local minima that trap classical greedy and annealing solvers entirely.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GreenRoute V7 — Hybrid Classical + Quantum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178308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17830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📂 CSV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29968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Customer data
+ depot 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992" y="1280160"/>
            <a:ext cx="178308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21992" y="1280160"/>
            <a:ext cx="17830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3716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📏 Distance
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029968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Haversine
formula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1280160"/>
            <a:ext cx="178308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15384" y="1280160"/>
            <a:ext cx="17830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6824" y="13716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</a:rPr>
              <a:t>⚙️ QUBO
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2029968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H_dist + H_assign
+ H_capacity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280160"/>
            <a:ext cx="178308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8776" y="1280160"/>
            <a:ext cx="178308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3716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855F7"/>
                </a:solidFill>
              </a:rPr>
              <a:t>⚡ BQPhy
QIEO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029968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Quantum-inspired
evolutionary opt.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64424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1280160"/>
            <a:ext cx="178308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02168" y="1280160"/>
            <a:ext cx="1783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13716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🔧 Decode
&amp; Repair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029968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Hard→Soft→
Or-opt→2-opt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18288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1280160"/>
            <a:ext cx="178308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95560" y="1280160"/>
            <a:ext cx="17830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13716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🏆 Decision
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029968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75% dist +
25% runtime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063240"/>
            <a:ext cx="2788920" cy="18288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3063240"/>
            <a:ext cx="45720" cy="18288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136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QUBO Formulation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5661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N×K binary vars
H = H_dist + λ·H_assign + λ·H_cap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3063240"/>
            <a:ext cx="2788920" cy="18288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0" y="3063240"/>
            <a:ext cx="45720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3136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BQPhy QIEO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35661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Quantum tunneling
Superposition · Rotation gate ΔΘ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063240"/>
            <a:ext cx="2788920" cy="18288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3063240"/>
            <a:ext cx="45720" cy="1828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136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Dual-Decode Strategy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5661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Hard round + Soft argmax
Automatic feasibility cascade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3063240"/>
            <a:ext cx="2788920" cy="18288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0" y="3063240"/>
            <a:ext cx="45720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31363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Or-opt Polishing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35661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Inter-route customer moves
post-quantum improvement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5074920"/>
            <a:ext cx="11731752" cy="9601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8600" y="5074920"/>
            <a:ext cx="11731752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51663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Classical (OR-Tools)  vs  Quantum (BQPhy QIEO)  →  Decision Engine crowns winner automatically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Full-Stack Dual-Solver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REACT FRONTEND (Vite)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1783080" cy="50292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184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Upload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572768"/>
            <a:ext cx="1783080" cy="50292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6184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Fleet Config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72768"/>
            <a:ext cx="1783080" cy="50292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6184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Dashboard + Route 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72768"/>
            <a:ext cx="1783080" cy="50292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184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Benchmark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72768"/>
            <a:ext cx="1783080" cy="50292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6184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Decision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572768"/>
            <a:ext cx="1783080" cy="50292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618488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B6D4"/>
                </a:solidFill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04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</a:rPr>
              <a:t>↕  HTTP REST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33472"/>
            <a:ext cx="11640312" cy="5029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633472"/>
            <a:ext cx="11640312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79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FASTAPI BACKEND (Python 3.12)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2679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/api/upload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2679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/api/quantum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2679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/api/classical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2679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/api/benchmark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679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/api/analytics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26791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/api/fleet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10128"/>
            <a:ext cx="5577840" cy="1920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310128"/>
            <a:ext cx="45720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83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⚡ CLASSICAL 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767328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→ Google OR-Tools VRP Solver</a:t>
            </a:r>
          </a:p>
          <a:p>
            <a:r>
              <a:rPr sz="1200" b="0">
                <a:solidFill>
                  <a:srgbClr val="E2E8F0"/>
                </a:solidFill>
              </a:rPr>
              <a:t>→ CP-SAT / VRP heuristics</a:t>
            </a:r>
          </a:p>
          <a:p>
            <a:r>
              <a:rPr sz="1200" b="0">
                <a:solidFill>
                  <a:srgbClr val="E2E8F0"/>
                </a:solidFill>
              </a:rPr>
              <a:t>→ Near-optimal routes</a:t>
            </a:r>
          </a:p>
          <a:p>
            <a:r>
              <a:rPr sz="1200" b="0">
                <a:solidFill>
                  <a:srgbClr val="E2E8F0"/>
                </a:solidFill>
              </a:rPr>
              <a:t>→ Fast, reliable, industry-grade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310128"/>
            <a:ext cx="5605272" cy="1920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310128"/>
            <a:ext cx="45720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383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⚡ QUANTUM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67328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→ QUBO Matrix Construction</a:t>
            </a:r>
          </a:p>
          <a:p>
            <a:r>
              <a:rPr sz="1200" b="0">
                <a:solidFill>
                  <a:srgbClr val="E2E8F0"/>
                </a:solidFill>
              </a:rPr>
              <a:t>→ BQPhy QIEO Optimizer</a:t>
            </a:r>
          </a:p>
          <a:p>
            <a:r>
              <a:rPr sz="1200" b="0">
                <a:solidFill>
                  <a:srgbClr val="E2E8F0"/>
                </a:solidFill>
              </a:rPr>
              <a:t>→ Dual-Decode (Hard + Soft)</a:t>
            </a:r>
          </a:p>
          <a:p>
            <a:r>
              <a:rPr sz="1200" b="0">
                <a:solidFill>
                  <a:srgbClr val="E2E8F0"/>
                </a:solidFill>
              </a:rPr>
              <a:t>→ Repair → Or-opt → 2-opt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5394960"/>
            <a:ext cx="6702552" cy="685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5458968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🏆  DECISION ENGINE  —  Score = 0.75 × Distance  +  0.25 × Runtime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Methodology: QUBO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Encoding CVRP as a Quantum Optimization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32004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5720" cy="3200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Binary Variable Encoding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y[i, k] ∈ {0, 1}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y[i, k] = 1  ⟺  customer i assigned to vehicle k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i ∈ {0 … N−1}   (customer index, 0-based)</a:t>
            </a:r>
          </a:p>
          <a:p>
            <a:r>
              <a:rPr sz="1200" b="0">
                <a:solidFill>
                  <a:srgbClr val="E2E8F0"/>
                </a:solidFill>
              </a:rPr>
              <a:t>k ∈ {0 … K−1}   (vehicle index, 0-based)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Flat index:  var(i,k) = i × K + k</a:t>
            </a:r>
          </a:p>
          <a:p>
            <a:r>
              <a:rPr sz="1200" b="0">
                <a:solidFill>
                  <a:srgbClr val="E2E8F0"/>
                </a:solidFill>
              </a:rPr>
              <a:t>Total vars:  N × K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Example:</a:t>
            </a:r>
          </a:p>
          <a:p>
            <a:r>
              <a:rPr sz="1200" b="0">
                <a:solidFill>
                  <a:srgbClr val="E2E8F0"/>
                </a:solidFill>
              </a:rPr>
              <a:t>8 customers × 3 vehicles = 24 binary 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788152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45720" cy="1508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61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Why N×K Encoding?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642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Arc-flow x[i,j,k]  →  N²×K vars  (impractical)</a:t>
            </a:r>
          </a:p>
          <a:p>
            <a:r>
              <a:rPr sz="1200" b="0">
                <a:solidFill>
                  <a:srgbClr val="E2E8F0"/>
                </a:solidFill>
              </a:rPr>
              <a:t>Assignment y[i,k]  →  N×K vars   (tractable ✓)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N×K scales LINEARLY — tractable on BQPhy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52928"/>
            <a:ext cx="5788152" cy="15544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852928"/>
            <a:ext cx="4572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QUBO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10128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H = H_distance  +  λ · H_assign  +  λ · H_capacity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Matrix form:   E(x) = xᵀ Q x     x ∈ {0,1}^(N×K)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572000"/>
            <a:ext cx="5788152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4572000"/>
            <a:ext cx="4572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636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H_distance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463600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Minimize total route distance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230368"/>
            <a:ext cx="5788152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5230368"/>
            <a:ext cx="45720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2943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H_assign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529437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Each customer → exactly ONE vehicle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5888736"/>
            <a:ext cx="5788152" cy="594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5888736"/>
            <a:ext cx="45720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952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H_capacity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9527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No vehicle exceeds load limit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526280"/>
            <a:ext cx="557784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526280"/>
            <a:ext cx="4572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599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Penalty Calibration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0176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λ = 50 × max_edge_km × N_customers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Even if every customer saved 2×max_edge by</a:t>
            </a:r>
          </a:p>
          <a:p>
            <a:r>
              <a:rPr sz="1200" b="0">
                <a:solidFill>
                  <a:srgbClr val="E2E8F0"/>
                </a:solidFill>
              </a:rPr>
              <a:t>violating constraints — λ still dominates.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Quantum Technology: BQPhy QIEO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Quantum-Inspired Evolutionary Optimizer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9144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BQPhy is a Quantum-Inspired Evolutionary Optimizer (QIEO) — runs on classical CPUs using quantum mechanical principles: superposition, interference, tunneling, and rotation gates.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5760720" cy="19659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45720" cy="19659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377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Superposition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816352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Each candidate exists as α|0⟩ + β|1⟩ — probabilistic over all 2ⁿ solutions simultaneously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760720" cy="19659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45720" cy="19659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Quantum Rotation ΔΘ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16352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Updates qubit angle θ each generation — controls exploration vs. exploitation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434840"/>
            <a:ext cx="5760720" cy="19659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434840"/>
            <a:ext cx="45720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45262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Interference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965192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Constructive: amplifies good paths
Destructive: suppresses poor paths → steers population to energy basin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434840"/>
            <a:ext cx="5760720" cy="19659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434840"/>
            <a:ext cx="45720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79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Quantum Tunneling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65192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Wavefunction passes through energy barriers — escapes local minima that trap SA and greedy solvers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Quantum Principles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Wiring BQPhy to the QUBO Energy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6858000" cy="3566160"/>
          </a:xfrm>
          <a:prstGeom prst="rect">
            <a:avLst/>
          </a:prstGeom>
          <a:solidFill>
            <a:srgbClr val="0A0E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5720" cy="3566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QUBO Fitness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6492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2C55E"/>
                </a:solidFill>
              </a:rPr>
              <a:t># Vectorised QUBO energy</a:t>
            </a:r>
          </a:p>
          <a:p>
            <a:r>
              <a:rPr sz="1000" b="0">
                <a:solidFill>
                  <a:srgbClr val="22C55E"/>
                </a:solidFill>
              </a:rPr>
              <a:t># x_batch: (numPopulation, n_vars)</a:t>
            </a:r>
          </a:p>
          <a:p>
            <a:r>
              <a:rPr sz="1000" b="0">
                <a:solidFill>
                  <a:srgbClr val="22C55E"/>
                </a:solidFill>
              </a:rPr>
              <a:t>def qubo_fitness(x_batch):</a:t>
            </a:r>
          </a:p>
          <a:p>
            <a:r>
              <a:rPr sz="1000" b="0">
                <a:solidFill>
                  <a:srgbClr val="22C55E"/>
                </a:solidFill>
              </a:rPr>
              <a:t>    return np.sum(</a:t>
            </a:r>
          </a:p>
          <a:p>
            <a:r>
              <a:rPr sz="1000" b="0">
                <a:solidFill>
                  <a:srgbClr val="22C55E"/>
                </a:solidFill>
              </a:rPr>
              <a:t>        (x_batch @ Q_matrix)</a:t>
            </a:r>
          </a:p>
          <a:p>
            <a:r>
              <a:rPr sz="1000" b="0">
                <a:solidFill>
                  <a:srgbClr val="22C55E"/>
                </a:solidFill>
              </a:rPr>
              <a:t>        * x_batch, axis=1</a:t>
            </a:r>
          </a:p>
          <a:p>
            <a:r>
              <a:rPr sz="1000" b="0">
                <a:solidFill>
                  <a:srgbClr val="22C55E"/>
                </a:solidFill>
              </a:rPr>
              <a:t>    )</a:t>
            </a:r>
          </a:p>
          <a:p>
            <a:r>
              <a:rPr sz="1000" b="0">
                <a:solidFill>
                  <a:srgbClr val="22C55E"/>
                </a:solidFill>
              </a:rPr>
              <a:t/>
            </a:r>
          </a:p>
          <a:p>
            <a:r>
              <a:rPr sz="1000" b="0">
                <a:solidFill>
                  <a:srgbClr val="22C55E"/>
                </a:solidFill>
              </a:rPr>
              <a:t>optimizer = BQPhy_OPTIMISER()</a:t>
            </a:r>
          </a:p>
          <a:p>
            <a:r>
              <a:rPr sz="1000" b="0">
                <a:solidFill>
                  <a:srgbClr val="22C55E"/>
                </a:solidFill>
              </a:rPr>
              <a:t>optimizer.initialize({</a:t>
            </a:r>
          </a:p>
          <a:p>
            <a:r>
              <a:rPr sz="1000" b="0">
                <a:solidFill>
                  <a:srgbClr val="22C55E"/>
                </a:solidFill>
              </a:rPr>
              <a:t>    "numPopulation": population,</a:t>
            </a:r>
          </a:p>
          <a:p>
            <a:r>
              <a:rPr sz="1000" b="0">
                <a:solidFill>
                  <a:srgbClr val="22C55E"/>
                </a:solidFill>
              </a:rPr>
              <a:t>    "maxGeneration":  generations,</a:t>
            </a:r>
          </a:p>
          <a:p>
            <a:r>
              <a:rPr sz="1000" b="0">
                <a:solidFill>
                  <a:srgbClr val="22C55E"/>
                </a:solidFill>
              </a:rPr>
              <a:t>    "deltaTheta":     dt,</a:t>
            </a:r>
          </a:p>
          <a:p>
            <a:r>
              <a:rPr sz="1000" b="0">
                <a:solidFill>
                  <a:srgbClr val="22C55E"/>
                </a:solidFill>
              </a:rPr>
              <a:t>    "designVariables": n_vars,</a:t>
            </a:r>
          </a:p>
          <a:p>
            <a:r>
              <a:rPr sz="1000" b="0">
                <a:solidFill>
                  <a:srgbClr val="22C55E"/>
                </a:solidFill>
              </a:rPr>
              <a:t>    "typeOfOptimisation": "BINARY",</a:t>
            </a:r>
          </a:p>
          <a:p>
            <a:r>
              <a:rPr sz="1000" b="0">
                <a:solidFill>
                  <a:srgbClr val="22C55E"/>
                </a:solidFill>
              </a:rPr>
              <a:t>})</a:t>
            </a:r>
          </a:p>
          <a:p>
            <a:r>
              <a:rPr sz="1000" b="0">
                <a:solidFill>
                  <a:srgbClr val="22C55E"/>
                </a:solidFill>
              </a:rPr>
              <a:t>optimizer.model(qubo_fitness)</a:t>
            </a:r>
          </a:p>
          <a:p>
            <a:r>
              <a:rPr sz="1000" b="0">
                <a:solidFill>
                  <a:srgbClr val="22C55E"/>
                </a:solidFill>
              </a:rPr>
              <a:t>optimizer.runOptimization()</a:t>
            </a:r>
          </a:p>
          <a:p>
            <a:r>
              <a:rPr sz="1000" b="0">
                <a:solidFill>
                  <a:srgbClr val="22C55E"/>
                </a:solidFill>
              </a:rPr>
              <a:t>vec, fit = optimizer.getBestDesign()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188720"/>
            <a:ext cx="457200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12344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12344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5016" y="12344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BQPhy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645920"/>
            <a:ext cx="4572000" cy="4572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Var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15016" y="1691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128+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121408"/>
            <a:ext cx="4572000" cy="45720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1671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Min Escape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33688" y="21671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Temp cool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5016" y="216712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Tunneling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596896"/>
            <a:ext cx="4572000" cy="4572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64261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64261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Single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5016" y="264261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Quantum amp.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3072384"/>
            <a:ext cx="4572000" cy="45720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31181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Exploration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31181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Stochast.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5016" y="3118104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Rotation ΔΘ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3547872"/>
            <a:ext cx="4572000" cy="4572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9359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Scalability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359359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O(2ⁿ)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5016" y="359359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Polynomial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023360"/>
            <a:ext cx="4572000" cy="45720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4069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Convergence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4069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15016" y="40690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C55E"/>
                </a:solidFill>
              </a:rPr>
              <a:t>Fast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4617720"/>
            <a:ext cx="4572000" cy="15087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06640" y="4617720"/>
            <a:ext cx="4572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468172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Multi-Run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0749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E8F0"/>
                </a:solidFill>
              </a:rPr>
              <a:t>≤30 vars  → 5 restarts (ΔΘ=0.12)</a:t>
            </a:r>
          </a:p>
          <a:p>
            <a:r>
              <a:rPr sz="1100" b="0">
                <a:solidFill>
                  <a:srgbClr val="E2E8F0"/>
                </a:solidFill>
              </a:rPr>
              <a:t>≤100 vars → 3 restarts (ΔΘ=0.096)</a:t>
            </a:r>
          </a:p>
          <a:p>
            <a:r>
              <a:rPr sz="1100" b="0">
                <a:solidFill>
                  <a:srgbClr val="E2E8F0"/>
                </a:solidFill>
              </a:rPr>
              <a:t>≤250 vars → 2 restarts (ΔΘ=0.072)</a:t>
            </a:r>
          </a:p>
          <a:p>
            <a:r>
              <a:rPr sz="1100" b="0">
                <a:solidFill>
                  <a:srgbClr val="E2E8F0"/>
                </a:solidFill>
              </a:rPr>
              <a:t>&gt;250 vars → 1 run      (ΔΘ=0.060)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892040"/>
            <a:ext cx="6858000" cy="12344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4892040"/>
            <a:ext cx="45720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9651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Adaptive Configuration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3492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4-tier scaling: population, generations, and ΔΘ automatically adjusted based on n_vars = N × K. Never under-resourced, never wasteful.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Approach: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From CSV Upload to Optimized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45720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1. 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parse_csv() → validate columns
demand&gt;0, lat/lon range check
Customer objects created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7952" y="123444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87952" y="1234440"/>
            <a:ext cx="45720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13258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2. Feasibility Guard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17373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total_demand ≤ total_capacity
max_demand ≤ max_capacity
Immediate reject if violated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7304" y="123444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234440"/>
            <a:ext cx="45720" cy="1737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32588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3. Scale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73736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 ≤ 16 → direct BQPhy solve
N &gt; 16 → k-means clustering
Sub-problem per cluster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15468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154680"/>
            <a:ext cx="45720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461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4. Distance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5760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Haversine formula
Shape: (N+1)×(N+1)
Row/col 0 = depot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7952" y="315468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952" y="3154680"/>
            <a:ext cx="45720" cy="1737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5112" y="32461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5. QUBO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5112" y="365760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H_dist + H_assign + H_cap
λ = 50×max_edge×N
Q ∈ ℝ^(n_vars×n_vars)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315468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47304" y="3154680"/>
            <a:ext cx="45720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4" y="324612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6. BQPhy Optimize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365760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QIEO multi-run
best_vector + QUBO energy
convergence_data logged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07492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5074920"/>
            <a:ext cx="45720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1663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7. Decode &amp; 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57784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Hard→Soft→repair_routes()
Or-opt + 2-opt polish
fallback if both fail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507492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87952" y="5074920"/>
            <a:ext cx="45720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5112" y="51663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8. Emissions Calc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557784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fuel = dist × fuel_rate
co2 = fuel × 2.31 kg/L
Per fleet aggregate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47304" y="5074920"/>
            <a:ext cx="3749039" cy="17373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47304" y="5074920"/>
            <a:ext cx="45720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4" y="51663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9. API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5577840"/>
            <a:ext cx="35204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routes + stats + meta
feasible + convergence
Persisted for comparison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Novel: Dual-Decode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From QUBO Solution Vector to Feasible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577840" cy="2468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45720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Strategy 1 — Hard Decode (Standard)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y[i,k] = 1  if  vec[i×K+k] ≥ 0.5</a:t>
            </a:r>
          </a:p>
          <a:p>
            <a:r>
              <a:rPr sz="1200" b="0">
                <a:solidFill>
                  <a:srgbClr val="E2E8F0"/>
                </a:solidFill>
              </a:rPr>
              <a:t>y[i,k] = 0  otherwise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Risk: values near 0.5 →</a:t>
            </a:r>
          </a:p>
          <a:p>
            <a:r>
              <a:rPr sz="1200" b="0">
                <a:solidFill>
                  <a:srgbClr val="E2E8F0"/>
                </a:solidFill>
              </a:rPr>
              <a:t>  • Customer assigned to 0 vehicles (missed)</a:t>
            </a:r>
          </a:p>
          <a:p>
            <a:r>
              <a:rPr sz="1200" b="0">
                <a:solidFill>
                  <a:srgbClr val="E2E8F0"/>
                </a:solidFill>
              </a:rPr>
              <a:t>  • Customer assigned to 2 vehicles (duplicated)</a:t>
            </a:r>
          </a:p>
          <a:p>
            <a:r>
              <a:rPr sz="1200" b="0">
                <a:solidFill>
                  <a:srgbClr val="E2E8F0"/>
                </a:solidFill>
              </a:rPr>
              <a:t>  → Requires repair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605272" cy="2468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45720" cy="2468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Strategy 2 — Soft Argmax (Novel 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E2E8F0"/>
                </a:solidFill>
              </a:rPr>
              <a:t>For each customer i:</a:t>
            </a:r>
          </a:p>
          <a:p>
            <a:r>
              <a:rPr sz="1200" b="0">
                <a:solidFill>
                  <a:srgbClr val="E2E8F0"/>
                </a:solidFill>
              </a:rPr>
              <a:t>  k* = argmax( vec[i×K+0],</a:t>
            </a:r>
          </a:p>
          <a:p>
            <a:r>
              <a:rPr sz="1200" b="0">
                <a:solidFill>
                  <a:srgbClr val="E2E8F0"/>
                </a:solidFill>
              </a:rPr>
              <a:t>               vec[i×K+1], … )</a:t>
            </a:r>
          </a:p>
          <a:p>
            <a:r>
              <a:rPr sz="1200" b="0">
                <a:solidFill>
                  <a:srgbClr val="E2E8F0"/>
                </a:solidFill>
              </a:rPr>
              <a:t>  → assign i exclusively to k*</a:t>
            </a:r>
          </a:p>
          <a:p>
            <a:r>
              <a:rPr sz="1200" b="0">
                <a:solidFill>
                  <a:srgbClr val="E2E8F0"/>
                </a:solidFill>
              </a:rPr>
              <a:t/>
            </a:r>
          </a:p>
          <a:p>
            <a:r>
              <a:rPr sz="1200" b="0">
                <a:solidFill>
                  <a:srgbClr val="E2E8F0"/>
                </a:solidFill>
              </a:rPr>
              <a:t>Guarantees: exactly-one assignment</a:t>
            </a:r>
          </a:p>
          <a:p>
            <a:r>
              <a:rPr sz="1200" b="0">
                <a:solidFill>
                  <a:srgbClr val="E2E8F0"/>
                </a:solidFill>
              </a:rPr>
              <a:t>Even when BQPhy hasn't fully converged.</a:t>
            </a:r>
          </a:p>
          <a:p>
            <a:r>
              <a:rPr sz="1200" b="0">
                <a:solidFill>
                  <a:srgbClr val="E2E8F0"/>
                </a:solidFill>
              </a:rPr>
              <a:t>No missed or duplicated customers.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1640312" cy="22402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840480"/>
            <a:ext cx="116403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0448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Dual-Strategy Cascade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1596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1596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Hard 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15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validate → repair_routes() → 2-opt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3159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</a:rPr>
              <a:t>→ Feasible? ✓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64607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[2]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64607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Soft 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86460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→ validate → repair_routes() → 2-opt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864607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→ Or-opt + 2-opt ✓ DONE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413248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[3]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132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NN+2opt Fallback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5413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(if both fail) — always feasible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4132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fallback_used = 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Implementation: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Python 3.12 · FastAPI · BQPhy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1325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5720" cy="13258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bqphy_solver.py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BQPhySolver + QIEO integration
Adaptive config + multi-run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34440"/>
            <a:ext cx="3749039" cy="1325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234440"/>
            <a:ext cx="45720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258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qubo.py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3736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QUBO Hamiltonian builder
H_dist + H_assign + H_cap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749039" cy="1325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45720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258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repair.py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decode / validate / repair
2-opt + Or-opt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97480"/>
            <a:ext cx="3749039" cy="1325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697480"/>
            <a:ext cx="45720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2788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dataset.py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20040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CSV parse + k-means clustering
Validation + Customer 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697480"/>
            <a:ext cx="3749039" cy="1325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2697480"/>
            <a:ext cx="45720" cy="1325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788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decision_engine.py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0040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Multi-metric composite scorer
75% dist + 25% runtime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697480"/>
            <a:ext cx="3749039" cy="13258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697480"/>
            <a:ext cx="45720" cy="1325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7889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emission.py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20040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Fuel consumption calculation
CO₂ emissions per fleet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343400"/>
            <a:ext cx="11640312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89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389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3891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Description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727448"/>
            <a:ext cx="11640312" cy="34747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7548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55F7"/>
                </a:solidFill>
              </a:rPr>
              <a:t>/api/upload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7548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475488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CSV parse + validate + store 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093208"/>
            <a:ext cx="11640312" cy="347472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1206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55F7"/>
                </a:solidFill>
              </a:rPr>
              <a:t>/api/quantum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5120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12064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Run BQPhy QIEO → routes + stats + convergence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458968"/>
            <a:ext cx="11640312" cy="34747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86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55F7"/>
                </a:solidFill>
              </a:rPr>
              <a:t>/api/classical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54864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48640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Run OR-Tools → classical routes + stats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824728"/>
            <a:ext cx="11640312" cy="347472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8521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55F7"/>
                </a:solidFill>
              </a:rPr>
              <a:t>/api/benchmark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58521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85216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Head-to-head comparison + decision engine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6190488"/>
            <a:ext cx="11640312" cy="347472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217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55F7"/>
                </a:solidFill>
              </a:rPr>
              <a:t>/api/analytics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621792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6217920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Historical performance + sustainability KPIs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Implementation: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React 18 · Vite · React Leaflet · Chart.js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194560" cy="1280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21945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Component framework
+ dev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188720"/>
            <a:ext cx="2194560" cy="1280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78608" y="1188720"/>
            <a:ext cx="21945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React Router v6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6916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Client-side
page routing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28616" y="1188720"/>
            <a:ext cx="2194560" cy="1280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28616" y="1188720"/>
            <a:ext cx="219456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5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</a:rPr>
              <a:t>React Leaflet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5" y="16916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Interactive map
route overlay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3" y="1188720"/>
            <a:ext cx="2194560" cy="1280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3" y="118872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3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Chart.js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0063" y="16916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Analytics charts
benchmark bars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28632" y="1188720"/>
            <a:ext cx="2194560" cy="1280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28632" y="1188720"/>
            <a:ext cx="21945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0072" y="1280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Lucide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16916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Icon library
premium icons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51760"/>
            <a:ext cx="5760720" cy="33832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651760"/>
            <a:ext cx="45720" cy="3383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7249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Application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31272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Upload  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1272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CSV drag-drop · fleet config · demo presets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69417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Dashboard  /dashboard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6941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Interactive route map · solver controls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2611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Benchmark  /benchmark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426110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ComparisonTable · Decision Engine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8280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Analytics  /analytics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482803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Historical KPIs · sustainability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394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Fleet  /fleet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394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Vehicle type management · capacity config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651760"/>
            <a:ext cx="5669280" cy="33832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2651760"/>
            <a:ext cx="45720" cy="3383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7249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Demo Presets (Built-In)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127248"/>
            <a:ext cx="5394960" cy="86868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0528" y="31912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Small  (8 customers)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0528" y="35661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2× Van @ 68 kg
Quantum-win dataset — 16 QUBO vars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087368"/>
            <a:ext cx="5394960" cy="86868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41513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Medium (15 customers)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526279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3× Van @ 75 kg
BQPhy clustering demo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047488"/>
            <a:ext cx="5394960" cy="868680"/>
          </a:xfrm>
          <a:prstGeom prst="rect">
            <a:avLst/>
          </a:prstGeom>
          <a:solidFill>
            <a:srgbClr val="0F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0528" y="51114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</a:rPr>
              <a:t>Mixed Fleet (10 cust.)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5486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</a:rPr>
              <a:t>Van + Electric Van + Bike
Multi-vehicle type scenario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Results &amp;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Decision Engine Scoring + Comparison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40312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1640312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Decision Engine Composite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Score  =  0.75 × (1 − dist_solver / max_dist)  +  0.25 × (1 − time_solver / max_time)          →  Winner = solver with HIGHER composite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88920"/>
            <a:ext cx="11640312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Classical (OR-Tools)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834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BQPhy (Quantum)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834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Δ% (Q vs 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00400"/>
            <a:ext cx="11640312" cy="4572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</a:rPr>
              <a:t>32.00 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46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30.00 km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▼ 6.3%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75887"/>
            <a:ext cx="11640312" cy="45720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2160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Fuel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721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</a:rPr>
              <a:t>3.80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721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3.50 L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721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▼ 7.9%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51376"/>
            <a:ext cx="11640312" cy="4572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970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CO₂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</a:rPr>
              <a:t>9.20 kg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197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8.40 kg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1970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2C55E"/>
                </a:solidFill>
              </a:rPr>
              <a:t>▼ 8.7%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26864"/>
            <a:ext cx="11640312" cy="45720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7258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6725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</a:rPr>
              <a:t>0.05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6725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2.10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67258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120640"/>
            <a:ext cx="11640312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846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🏆  Winner: BQPhy (Quantum)  —  Shorter routes, lower fuel, lower CO₂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852160"/>
            <a:ext cx="11640312" cy="777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852160"/>
            <a:ext cx="45720" cy="777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9161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855F7"/>
                </a:solidFill>
              </a:rPr>
              <a:t>Convergence Metrics returned in API: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916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objective_best  ·  objective_mean  ·  objective_variance  ·  convergence_data[ ] (per-run QUBO energies, plottable)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Sustainability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Green Routing: Quantifiable CO₂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14884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148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</a:rPr>
              <a:t>Route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</a:rPr>
              <a:t>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39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188720"/>
            <a:ext cx="214884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×  Fuel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</a:rPr>
              <a:t>L/km per vehicle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1188720"/>
            <a:ext cx="214884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7759" y="11887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Fuel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</a:rPr>
              <a:t>litres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79" y="1188720"/>
            <a:ext cx="214884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69479" y="1188720"/>
            <a:ext cx="2148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207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×  2.31 kg/L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7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</a:rPr>
              <a:t>CO₂ emission factor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600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188720"/>
            <a:ext cx="2148840" cy="11887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188720"/>
            <a:ext cx="21488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12801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CO₂ Emitted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171907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BD5E1"/>
                </a:solidFill>
              </a:rPr>
              <a:t>kg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78608"/>
            <a:ext cx="5577840" cy="38404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624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Vehicle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2624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Fuel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2624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CO₂/km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62432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Notes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62656"/>
            <a:ext cx="5577840" cy="402336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92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29992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0.11 L/km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29992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~0.254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29992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Standard delivery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383280"/>
            <a:ext cx="5577840" cy="402336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34198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Truck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34198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0.18 L/km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34198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~0.416 kg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4198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Heavy goods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803904"/>
            <a:ext cx="5577840" cy="402336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38404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Bike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38404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0.03 L/km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38404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~0.069 kg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38404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Cargo / scooter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224528"/>
            <a:ext cx="5577840" cy="402336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2611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Electric Van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91640" y="42611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0.00 L/km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17520" y="42611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C55E"/>
                </a:solidFill>
              </a:rPr>
              <a:t>0.000 kg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2611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Zero direct emissions 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2578608"/>
            <a:ext cx="5788152" cy="30632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26480" y="2578608"/>
            <a:ext cx="45720" cy="3063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26517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Business Case at Scale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3035808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E2E8F0"/>
                </a:solidFill>
              </a:rPr>
              <a:t>10-vehicle fleet · 50 deliveries/day</a:t>
            </a:r>
          </a:p>
          <a:p>
            <a:r>
              <a:rPr sz="1100" b="0">
                <a:solidFill>
                  <a:srgbClr val="E2E8F0"/>
                </a:solidFill>
              </a:rPr>
              <a:t>250 working days/year</a:t>
            </a:r>
          </a:p>
          <a:p>
            <a:r>
              <a:rPr sz="1100" b="0">
                <a:solidFill>
                  <a:srgbClr val="E2E8F0"/>
                </a:solidFill>
              </a:rPr>
              <a:t/>
            </a:r>
          </a:p>
          <a:p>
            <a:r>
              <a:rPr sz="1100" b="0">
                <a:solidFill>
                  <a:srgbClr val="E2E8F0"/>
                </a:solidFill>
              </a:rPr>
              <a:t>5% route reduction =</a:t>
            </a:r>
          </a:p>
          <a:p>
            <a:r>
              <a:rPr sz="1100" b="0">
                <a:solidFill>
                  <a:srgbClr val="E2E8F0"/>
                </a:solidFill>
              </a:rPr>
              <a:t>  6,250 km saved/year</a:t>
            </a:r>
          </a:p>
          <a:p>
            <a:r>
              <a:rPr sz="1100" b="0">
                <a:solidFill>
                  <a:srgbClr val="E2E8F0"/>
                </a:solidFill>
              </a:rPr>
              <a:t>  687 L fuel saved/year</a:t>
            </a:r>
          </a:p>
          <a:p>
            <a:r>
              <a:rPr sz="1100" b="0">
                <a:solidFill>
                  <a:srgbClr val="E2E8F0"/>
                </a:solidFill>
              </a:rPr>
              <a:t>  1,588 kg CO₂ avoided/year</a:t>
            </a:r>
          </a:p>
          <a:p>
            <a:r>
              <a:rPr sz="1100" b="0">
                <a:solidFill>
                  <a:srgbClr val="E2E8F0"/>
                </a:solidFill>
              </a:rPr>
              <a:t/>
            </a:r>
          </a:p>
          <a:p>
            <a:r>
              <a:rPr sz="1100" b="0">
                <a:solidFill>
                  <a:srgbClr val="E2E8F0"/>
                </a:solidFill>
              </a:rPr>
              <a:t>At 100-vehicle scale:</a:t>
            </a:r>
          </a:p>
          <a:p>
            <a:r>
              <a:rPr sz="1100" b="0">
                <a:solidFill>
                  <a:srgbClr val="E2E8F0"/>
                </a:solidFill>
              </a:rPr>
              <a:t>  158,000 – 317,000 kg CO₂/year</a:t>
            </a:r>
          </a:p>
          <a:p>
            <a:r>
              <a:rPr sz="1100" b="0">
                <a:solidFill>
                  <a:srgbClr val="E2E8F0"/>
                </a:solidFill>
              </a:rPr>
              <a:t>  = 158 – 317 tonnes avoided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833872"/>
            <a:ext cx="11640312" cy="79552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4320" y="5833872"/>
            <a:ext cx="1164031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9161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2E8F0"/>
                </a:solidFill>
              </a:rPr>
              <a:t>ESG KPIs: Distance per delivery  ·  Fleet fuel  ·  CO₂ per route  ·  Solver comparison  ·  Electric vehicle support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Innovation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7 Original Technical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80644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5720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1. Real QUBO-Based CVRP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Not a simulation — genuine QUBO energy minimization with physics-based quantum-inspired optimizer.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234440"/>
            <a:ext cx="580644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234440"/>
            <a:ext cx="4572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258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2. Dual-Decode Strategy 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Hard-round + Soft-argmax with automatic cascade. Guarantees exactly-one customer assignment even at partial BQPhy convergence.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580644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4572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834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3. Adaptive BQPhy Config 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24612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4-tier problem-size-aware parameter scaling for population, generations, and ΔΘ. Never under- or over-configured.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743200"/>
            <a:ext cx="580644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743200"/>
            <a:ext cx="4572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4. Or-opt Quantum Polishing 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4612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Inter-route improvement applied post-quantum decode — moves customers between routes, unlocking improvements 2-opt can't find.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51960"/>
            <a:ext cx="580644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251960"/>
            <a:ext cx="45720" cy="13716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343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5. Transparent Decision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47548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75%/25% composite scoring with full breakdown in API response. No black-box verdict — judges can audit every number.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251960"/>
            <a:ext cx="580644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4251960"/>
            <a:ext cx="4572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434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6. Geographic k-means 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548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Beyond qubit limit, customers clustered by lat/lon and solved per sub-problem — transparently scaling quantum to real fleets.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5760719"/>
            <a:ext cx="6126480" cy="137160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5760719"/>
            <a:ext cx="45720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79" y="5852159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</a:rPr>
              <a:t>7. Mixed Fleet Sustainability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79" y="6263639"/>
            <a:ext cx="5897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Van · Truck · Bike · Electric Van with per-type fuel rates — genuine green optimization, not just distance minimization.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Technical Obstacles Overcome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11731752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2344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3444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11731752" cy="640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1848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Penalty vanishes for large vehicles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61848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Scale λ/Qₖ² → near zero at Qₖ=9999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1848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Changed to λ/max_demand² — always effective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240280"/>
            <a:ext cx="11731752" cy="64008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28600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Near-0.5 BQPhy outputs → bad assign.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Partial convergence → ambiguous binary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28600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Soft argmax: exactly-one per customer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907791"/>
            <a:ext cx="11731752" cy="640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95351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Or-opt causing capacity overflow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9535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Move customer without checking dst 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53512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Explicit capacity check before every move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575304"/>
            <a:ext cx="11731752" cy="64008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62102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Large datasets exceed qubit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62102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n_vars = N×K grows beyond 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621024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k-means geographic clustering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242816"/>
            <a:ext cx="11731752" cy="640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2885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BQPhy package not installed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288536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Python env mismatch / missing wheel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288536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ImportError caught → NN+2opt fallback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910328"/>
            <a:ext cx="11731752" cy="640080"/>
          </a:xfrm>
          <a:prstGeom prst="rect">
            <a:avLst/>
          </a:prstGeom>
          <a:solidFill>
            <a:srgbClr val="11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95604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Penalty too weak for multi-customer savings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95604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λ didn't scale with 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956048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λ = 50 × max_edge × N_customers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577840"/>
            <a:ext cx="11731752" cy="6400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62356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Decoder misses 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62356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Hard decode: near 0.5 maps to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623560"/>
            <a:ext cx="4389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repair_routes() inserts all unvisited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From Quantum-Inspired Today to True QPU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8920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Immediate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Real QPU Integration (IBM Quantum, D-Wave, IonQ)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QAOA Circuit — map QUBO to quantum gate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374903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Time-Window Constraints (VRPTW)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4754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Real traffic data → dynamic distance matrix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48920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188720"/>
            <a:ext cx="3749039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Medium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Multi-Depot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Vehicle Heterogeneity (EVs, Trucks, Bikes)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4903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Quantum Annealing on D-Wave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Live re-optimization as deliveries 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749039" cy="48920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188720"/>
            <a:ext cx="3749039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</a:rPr>
              <a:t>Long-Term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1737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Quantum Advantage Proof (QPU vs. Classical at scale)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43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Carbon Credit Marketplace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3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Fleet Electrification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754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→  SaaS — multi-tenant route optimization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5-Minute Live Demonstration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749039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5720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Step 1
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84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Select 'Small (8 customers)' preset
→ 2× Van @ 68 kg
→ Confirm: '8 customers loaded'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3672" y="1234440"/>
            <a:ext cx="3749039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3672" y="1234440"/>
            <a:ext cx="45720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1325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Step 2
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984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Fleet capacity check:
'✓ 123 kg demand / 136 kg capacity'
→ Click 'Run Optimization'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234440"/>
            <a:ext cx="3749039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234440"/>
            <a:ext cx="45720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32588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Step 3
Classical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198424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OR-Tools solves → map renders
3 colour-coded routes
KPIs: Distance · Fuel · CO₂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3749039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45720" cy="21945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37033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855F7"/>
                </a:solidFill>
              </a:rPr>
              <a:t>Step 4
Quantum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3616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BQPhy QIEO runs QUBO
[method: bqphy  |  n_vars: 16]
Dual-decode → Or-opt → 2-opt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3611880"/>
            <a:ext cx="3749039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3672" y="3611880"/>
            <a:ext cx="45720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70832" y="37033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Step 5
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2" y="43616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ComparisonTable side-by-side
Δ% column highlights savings
Composite score bars 0–1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611880"/>
            <a:ext cx="3749039" cy="21945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3611880"/>
            <a:ext cx="45720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4" y="37033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Step 6
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36168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Winner badge appears:
'BQPhy (Quantum)' in green
Scoring breakdown visible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Full-Stack Quantum-Enhanced Logistics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760720" cy="2423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45720" cy="2423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25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7556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React 18 + Vite (dev server)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756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React Router v6 (SPA routing)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957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React Leaflet (interactive map)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7157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Chart.js (analytics charts)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3580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Lucide React (icon library)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3558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Tailwind CSS (utility styling)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5760720" cy="2423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45720" cy="2423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3258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556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Python 3.12 (runtime)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756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FastAPI (REST API framework)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957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NumPy (matrix operations)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157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Pandas (CSV parsing)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3580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scikit-learn (k-means clustering)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558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Uvicorn (ASGI server)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5760720" cy="2423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840480"/>
            <a:ext cx="45720" cy="2423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931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5F7"/>
                </a:solidFill>
              </a:rPr>
              <a:t>Quantum /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3616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BQPhy QIEO (quantum-inspired optimizer)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46817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QUBO formulation (custom Python)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0017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Google OR-Tools (classical solver)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532180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Haversine distance (custom Python)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56418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2-opt + Or-opt (route improvement)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9618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python-pptx (this presentation!)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840480"/>
            <a:ext cx="5760720" cy="242316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840480"/>
            <a:ext cx="45720" cy="2423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9319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&amp; Config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3616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depot.json (depot coordinates)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68172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CSV upload (customer dataset)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00176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FastAPI app.state (session store)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2180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pytest (backend test suite)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64184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requirements.txt (pinned deps)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961888"/>
            <a:ext cx="5394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• DEVIATIONS.md (audit trail)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65960"/>
            <a:ext cx="12188952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GreenRoute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C55E"/>
                </a:solidFill>
              </a:rPr>
              <a:t>Quantum Assisted Vehicle Routing for Green Logistics  |  Quant-A-thon 2026  |  Team QT-6.22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2194560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2194560"/>
            <a:ext cx="283464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230428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</a:rPr>
              <a:t>✅ Working
Quantum 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907791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Real BQPhy QIEO
on a proper QUBO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194560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2194560"/>
            <a:ext cx="28346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30428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✅ Dual-Decode
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907791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Hard + Soft argmax
cascade 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194560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194560"/>
            <a:ext cx="2834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30428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✅ Adaptive
BQPhy 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907791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4-tier problem-size
parameter scaling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194560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194560"/>
            <a:ext cx="2834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30428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✅ Or-opt
Polishing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907791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Inter-route moves
post-quantum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49039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749039"/>
            <a:ext cx="28346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" y="385876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✅ Decision
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4462272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75%/25% composite
full transparency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749039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749039"/>
            <a:ext cx="28346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85876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✅ k-means
Scaling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462272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Quantum beyond
qubit limit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749039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49039"/>
            <a:ext cx="2834640" cy="457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85876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855F7"/>
                </a:solidFill>
              </a:rPr>
              <a:t>✅ Mixed Fleet
Sustainability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4462272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Van·Truck·Bike·EV
per-type emissions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749039"/>
            <a:ext cx="2834640" cy="1417320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749039"/>
            <a:ext cx="28346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858768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✅ Graceful
Fallback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4462272"/>
            <a:ext cx="26151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2E8F0"/>
                </a:solidFill>
              </a:rPr>
              <a:t>NN+2opt backup
if BQPhy missing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394960"/>
            <a:ext cx="11640312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468112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D1117"/>
                </a:solidFill>
              </a:rPr>
              <a:t>"Quantum-inspired optimization is practical, deployable, and impactful today."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 ·  Questions?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1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GreenRoute V7  |  Quant-A-thon 2026  |  Team QT-6.22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